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notesMasterIdLst>
    <p:notesMasterId r:id="rId8"/>
  </p:notesMaster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one sentence: Spendsense reads recent transactions and explains them the way a friend would, not the way a spreadsheet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the feeling, not the technology. People already have statements. They do not have an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jobs only: look back, ask, look ahead. Everything else is one of those.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menu for the live demo. Walk the screens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demo, point at Urban Living Apts, category Other, 58 percent. That is the unsure case.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mock demo, click List my EMI payments for the good answer. Then ask the France question. The long food question can also refuse, because the practice search needs shared words such as Chipotle. Say that out loud so it does not look like a bug.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Hover an alert in the live app and read the sentence. Smaller charges can also be marked if they still sit well above that group’s average.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green line and the shaded area. Mention the day the expected balance goes negative, 6 October 2026 on this sample.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one goal card, then the September report. Do not accept or dismiss a goal until you are finished talking, because a dismissed idea stays dismissed.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Upgrade to Pro only at the end of the demo. It changes the shared practice login for everyone using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page looks empty, wait a moment and refresh. Do not re-seed or reconnect the bank in the middle of the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there. Offer to open the live app and walk the eight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691640"/>
            <a:ext cx="9144000" cy="320040"/>
          </a:xfrm>
          <a:prstGeom prst="rect">
            <a:avLst/>
          </a:prstGeom>
          <a:noFill/>
        </p:spPr>
        <p:txBody>
          <a:bodyPr wrap="square"/>
          <a:lstStyle/>
          <a:p>
            <a:pPr algn="l"/>
            <a:r>
              <a:rPr sz="1600" b="1">
                <a:solidFill>
                  <a:srgbClr val="059669"/>
                </a:solidFill>
                <a:latin typeface="Calibri"/>
              </a:rPr>
              <a:t>PERSONAL FINANCE</a:t>
            </a:r>
          </a:p>
        </p:txBody>
      </p:sp>
      <p:sp>
        <p:nvSpPr>
          <p:cNvPr id="4" name="TextBox 3"/>
          <p:cNvSpPr txBox="1"/>
          <p:nvPr/>
        </p:nvSpPr>
        <p:spPr>
          <a:xfrm>
            <a:off x="777240" y="2057400"/>
            <a:ext cx="10058400" cy="1005840"/>
          </a:xfrm>
          <a:prstGeom prst="rect">
            <a:avLst/>
          </a:prstGeom>
          <a:noFill/>
        </p:spPr>
        <p:txBody>
          <a:bodyPr wrap="square"/>
          <a:lstStyle/>
          <a:p>
            <a:pPr algn="l"/>
            <a:r>
              <a:rPr sz="6000" b="1">
                <a:solidFill>
                  <a:srgbClr val="FFFFFF"/>
                </a:solidFill>
                <a:latin typeface="Calibri"/>
              </a:rPr>
              <a:t>Spendsense</a:t>
            </a:r>
          </a:p>
        </p:txBody>
      </p:sp>
      <p:sp>
        <p:nvSpPr>
          <p:cNvPr id="5" name="TextBox 4"/>
          <p:cNvSpPr txBox="1"/>
          <p:nvPr/>
        </p:nvSpPr>
        <p:spPr>
          <a:xfrm>
            <a:off x="777240" y="3154680"/>
            <a:ext cx="9144000" cy="548640"/>
          </a:xfrm>
          <a:prstGeom prst="rect">
            <a:avLst/>
          </a:prstGeom>
          <a:noFill/>
        </p:spPr>
        <p:txBody>
          <a:bodyPr wrap="square"/>
          <a:lstStyle/>
          <a:p>
            <a:pPr algn="l"/>
            <a:r>
              <a:rPr sz="2800" b="0">
                <a:solidFill>
                  <a:srgbClr val="CBD5E1"/>
                </a:solidFill>
                <a:latin typeface="Calibri"/>
              </a:rPr>
              <a:t>Your spending, explained in everyday words.</a:t>
            </a:r>
          </a:p>
        </p:txBody>
      </p:sp>
      <p:sp>
        <p:nvSpPr>
          <p:cNvPr id="6" name="TextBox 5"/>
          <p:cNvSpPr txBox="1"/>
          <p:nvPr/>
        </p:nvSpPr>
        <p:spPr>
          <a:xfrm>
            <a:off x="777240" y="5852160"/>
            <a:ext cx="9144000" cy="365760"/>
          </a:xfrm>
          <a:prstGeom prst="rect">
            <a:avLst/>
          </a:prstGeom>
          <a:noFill/>
        </p:spPr>
        <p:txBody>
          <a:bodyPr wrap="square"/>
          <a:lstStyle/>
          <a:p>
            <a:pPr algn="l"/>
            <a:r>
              <a:rPr sz="1600" b="0">
                <a:solidFill>
                  <a:srgbClr val="94A3B8"/>
                </a:solidFill>
                <a:latin typeface="Calibri"/>
              </a:rPr>
              <a:t>A practice demo with sample bank data. No real bank login. No real card charge.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THE EVERYDAY PROBLEM</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A bank app shows the numbers.
It does not explain them.</a:t>
            </a:r>
          </a:p>
        </p:txBody>
      </p:sp>
      <p:sp>
        <p:nvSpPr>
          <p:cNvPr id="5" name="TextBox 4"/>
          <p:cNvSpPr txBox="1"/>
          <p:nvPr/>
        </p:nvSpPr>
        <p:spPr>
          <a:xfrm>
            <a:off x="777240" y="1965960"/>
            <a:ext cx="10607040" cy="4663440"/>
          </a:xfrm>
          <a:prstGeom prst="rect">
            <a:avLst/>
          </a:prstGeom>
          <a:noFill/>
        </p:spPr>
        <p:txBody>
          <a:bodyPr wrap="square">
            <a:spAutoFit/>
          </a:bodyPr>
          <a:lstStyle/>
          <a:p>
            <a:pPr>
              <a:spcAft>
                <a:spcPts val="1600"/>
              </a:spcAft>
            </a:pPr>
            <a:r>
              <a:rPr sz="2400" b="0">
                <a:solidFill>
                  <a:srgbClr val="334155"/>
                </a:solidFill>
                <a:latin typeface="Calibri"/>
              </a:rPr>
              <a:t>You can see that you spent more. You still have to hunt for why.</a:t>
            </a:r>
          </a:p>
          <a:p>
            <a:pPr>
              <a:spcAft>
                <a:spcPts val="1600"/>
              </a:spcAft>
            </a:pPr>
            <a:r>
              <a:rPr sz="2400" b="0">
                <a:solidFill>
                  <a:srgbClr val="334155"/>
                </a:solidFill>
                <a:latin typeface="Calibri"/>
              </a:rPr>
              <a:t>A single big charge can hide in a long list.</a:t>
            </a:r>
          </a:p>
          <a:p>
            <a:pPr>
              <a:spcAft>
                <a:spcPts val="1600"/>
              </a:spcAft>
            </a:pPr>
            <a:r>
              <a:rPr sz="2400" b="0">
                <a:solidFill>
                  <a:srgbClr val="334155"/>
                </a:solidFill>
                <a:latin typeface="Calibri"/>
              </a:rPr>
              <a:t>Next month's rent and salary are predictable, but the app rarely puts them on one picture.</a:t>
            </a:r>
          </a:p>
          <a:p>
            <a:pPr>
              <a:spcAft>
                <a:spcPts val="1600"/>
              </a:spcAft>
            </a:pPr>
            <a:r>
              <a:rPr sz="2400" b="0">
                <a:solidFill>
                  <a:srgbClr val="334155"/>
                </a:solidFill>
                <a:latin typeface="Calibri"/>
              </a:rPr>
              <a:t>A chart does not tell you the one or two things worth changing.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WHAT IT IS</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A helper that sits on top of your transactions.</a:t>
            </a:r>
          </a:p>
        </p:txBody>
      </p:sp>
      <p:sp>
        <p:nvSpPr>
          <p:cNvPr id="5" name="TextBox 4"/>
          <p:cNvSpPr txBox="1"/>
          <p:nvPr/>
        </p:nvSpPr>
        <p:spPr>
          <a:xfrm>
            <a:off x="640080" y="1691640"/>
            <a:ext cx="10972800" cy="1188720"/>
          </a:xfrm>
          <a:prstGeom prst="rect">
            <a:avLst/>
          </a:prstGeom>
          <a:noFill/>
        </p:spPr>
        <p:txBody>
          <a:bodyPr wrap="square"/>
          <a:lstStyle/>
          <a:p>
            <a:pPr algn="l"/>
            <a:r>
              <a:rPr sz="2400" b="0">
                <a:solidFill>
                  <a:srgbClr val="334155"/>
                </a:solidFill>
                <a:latin typeface="Calibri"/>
              </a:rPr>
              <a:t>Spendsense takes about three months of purchases and turns them into answers, warnings, a 30-day look ahead, savings ideas, and a short monthly checkup.</a:t>
            </a:r>
          </a:p>
        </p:txBody>
      </p:sp>
      <p:sp>
        <p:nvSpPr>
          <p:cNvPr id="6" name="Rectangle 5"/>
          <p:cNvSpPr/>
          <p:nvPr/>
        </p:nvSpPr>
        <p:spPr>
          <a:xfrm>
            <a:off x="640080" y="3291840"/>
            <a:ext cx="3520440" cy="2468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91840"/>
            <a:ext cx="352044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611880"/>
            <a:ext cx="3017520" cy="457200"/>
          </a:xfrm>
          <a:prstGeom prst="rect">
            <a:avLst/>
          </a:prstGeom>
          <a:noFill/>
        </p:spPr>
        <p:txBody>
          <a:bodyPr wrap="square"/>
          <a:lstStyle/>
          <a:p>
            <a:pPr algn="l"/>
            <a:r>
              <a:rPr sz="2400" b="1">
                <a:solidFill>
                  <a:srgbClr val="0F172A"/>
                </a:solidFill>
                <a:latin typeface="Calibri"/>
              </a:rPr>
              <a:t>Look back</a:t>
            </a:r>
          </a:p>
        </p:txBody>
      </p:sp>
      <p:sp>
        <p:nvSpPr>
          <p:cNvPr id="9" name="TextBox 8"/>
          <p:cNvSpPr txBox="1"/>
          <p:nvPr/>
        </p:nvSpPr>
        <p:spPr>
          <a:xfrm>
            <a:off x="896112" y="4206240"/>
            <a:ext cx="3017520" cy="1188720"/>
          </a:xfrm>
          <a:prstGeom prst="rect">
            <a:avLst/>
          </a:prstGeom>
          <a:noFill/>
        </p:spPr>
        <p:txBody>
          <a:bodyPr wrap="square"/>
          <a:lstStyle/>
          <a:p>
            <a:pPr algn="l"/>
            <a:r>
              <a:rPr sz="1800" b="0">
                <a:solidFill>
                  <a:srgbClr val="334155"/>
                </a:solidFill>
                <a:latin typeface="Calibri"/>
              </a:rPr>
              <a:t>See where the money went, in plain groups.</a:t>
            </a:r>
          </a:p>
        </p:txBody>
      </p:sp>
      <p:sp>
        <p:nvSpPr>
          <p:cNvPr id="10" name="Rectangle 9"/>
          <p:cNvSpPr/>
          <p:nvPr/>
        </p:nvSpPr>
        <p:spPr>
          <a:xfrm>
            <a:off x="4389120" y="3291840"/>
            <a:ext cx="3520440" cy="2468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3291840"/>
            <a:ext cx="352044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3611880"/>
            <a:ext cx="3017520" cy="457200"/>
          </a:xfrm>
          <a:prstGeom prst="rect">
            <a:avLst/>
          </a:prstGeom>
          <a:noFill/>
        </p:spPr>
        <p:txBody>
          <a:bodyPr wrap="square"/>
          <a:lstStyle/>
          <a:p>
            <a:pPr algn="l"/>
            <a:r>
              <a:rPr sz="2400" b="1">
                <a:solidFill>
                  <a:srgbClr val="0F172A"/>
                </a:solidFill>
                <a:latin typeface="Calibri"/>
              </a:rPr>
              <a:t>Ask</a:t>
            </a:r>
          </a:p>
        </p:txBody>
      </p:sp>
      <p:sp>
        <p:nvSpPr>
          <p:cNvPr id="13" name="TextBox 12"/>
          <p:cNvSpPr txBox="1"/>
          <p:nvPr/>
        </p:nvSpPr>
        <p:spPr>
          <a:xfrm>
            <a:off x="4645152" y="4206240"/>
            <a:ext cx="3017520" cy="1188720"/>
          </a:xfrm>
          <a:prstGeom prst="rect">
            <a:avLst/>
          </a:prstGeom>
          <a:noFill/>
        </p:spPr>
        <p:txBody>
          <a:bodyPr wrap="square"/>
          <a:lstStyle/>
          <a:p>
            <a:pPr algn="l"/>
            <a:r>
              <a:rPr sz="1800" b="0">
                <a:solidFill>
                  <a:srgbClr val="334155"/>
                </a:solidFill>
                <a:latin typeface="Calibri"/>
              </a:rPr>
              <a:t>Type a normal question and get an answer from your own purchases.</a:t>
            </a:r>
          </a:p>
        </p:txBody>
      </p:sp>
      <p:sp>
        <p:nvSpPr>
          <p:cNvPr id="14" name="Rectangle 13"/>
          <p:cNvSpPr/>
          <p:nvPr/>
        </p:nvSpPr>
        <p:spPr>
          <a:xfrm>
            <a:off x="8138159" y="3291840"/>
            <a:ext cx="3520440" cy="2468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59" y="3291840"/>
            <a:ext cx="352044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1" y="3611880"/>
            <a:ext cx="3017520" cy="457200"/>
          </a:xfrm>
          <a:prstGeom prst="rect">
            <a:avLst/>
          </a:prstGeom>
          <a:noFill/>
        </p:spPr>
        <p:txBody>
          <a:bodyPr wrap="square"/>
          <a:lstStyle/>
          <a:p>
            <a:pPr algn="l"/>
            <a:r>
              <a:rPr sz="2400" b="1">
                <a:solidFill>
                  <a:srgbClr val="0F172A"/>
                </a:solidFill>
                <a:latin typeface="Calibri"/>
              </a:rPr>
              <a:t>Look ahead</a:t>
            </a:r>
          </a:p>
        </p:txBody>
      </p:sp>
      <p:sp>
        <p:nvSpPr>
          <p:cNvPr id="17" name="TextBox 16"/>
          <p:cNvSpPr txBox="1"/>
          <p:nvPr/>
        </p:nvSpPr>
        <p:spPr>
          <a:xfrm>
            <a:off x="8394191" y="4206240"/>
            <a:ext cx="3017520" cy="1188720"/>
          </a:xfrm>
          <a:prstGeom prst="rect">
            <a:avLst/>
          </a:prstGeom>
          <a:noFill/>
        </p:spPr>
        <p:txBody>
          <a:bodyPr wrap="square"/>
          <a:lstStyle/>
          <a:p>
            <a:pPr algn="l"/>
            <a:r>
              <a:rPr sz="1800" b="0">
                <a:solidFill>
                  <a:srgbClr val="334155"/>
                </a:solidFill>
                <a:latin typeface="Calibri"/>
              </a:rPr>
              <a:t>See the next 30 days, with room for uncertainty.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WHAT YOU CAN DO</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Eight things, one by one.</a:t>
            </a:r>
          </a:p>
        </p:txBody>
      </p:sp>
      <p:sp>
        <p:nvSpPr>
          <p:cNvPr id="5" name="TextBox 4"/>
          <p:cNvSpPr txBox="1"/>
          <p:nvPr/>
        </p:nvSpPr>
        <p:spPr>
          <a:xfrm>
            <a:off x="640080" y="1645920"/>
            <a:ext cx="502920" cy="457200"/>
          </a:xfrm>
          <a:prstGeom prst="rect">
            <a:avLst/>
          </a:prstGeom>
          <a:noFill/>
        </p:spPr>
        <p:txBody>
          <a:bodyPr wrap="square"/>
          <a:lstStyle/>
          <a:p>
            <a:pPr algn="l"/>
            <a:r>
              <a:rPr sz="2200" b="1">
                <a:solidFill>
                  <a:srgbClr val="059669"/>
                </a:solidFill>
                <a:latin typeface="Calibri"/>
              </a:rPr>
              <a:t>1</a:t>
            </a:r>
          </a:p>
        </p:txBody>
      </p:sp>
      <p:sp>
        <p:nvSpPr>
          <p:cNvPr id="6" name="TextBox 5"/>
          <p:cNvSpPr txBox="1"/>
          <p:nvPr/>
        </p:nvSpPr>
        <p:spPr>
          <a:xfrm>
            <a:off x="1188720" y="1645920"/>
            <a:ext cx="4754880" cy="365760"/>
          </a:xfrm>
          <a:prstGeom prst="rect">
            <a:avLst/>
          </a:prstGeom>
          <a:noFill/>
        </p:spPr>
        <p:txBody>
          <a:bodyPr wrap="square"/>
          <a:lstStyle/>
          <a:p>
            <a:pPr algn="l"/>
            <a:r>
              <a:rPr sz="2000" b="1">
                <a:solidFill>
                  <a:srgbClr val="0F172A"/>
                </a:solidFill>
                <a:latin typeface="Calibri"/>
              </a:rPr>
              <a:t>Connect a bank</a:t>
            </a:r>
          </a:p>
        </p:txBody>
      </p:sp>
      <p:sp>
        <p:nvSpPr>
          <p:cNvPr id="7" name="TextBox 6"/>
          <p:cNvSpPr txBox="1"/>
          <p:nvPr/>
        </p:nvSpPr>
        <p:spPr>
          <a:xfrm>
            <a:off x="1188720" y="1993392"/>
            <a:ext cx="4754880" cy="502920"/>
          </a:xfrm>
          <a:prstGeom prst="rect">
            <a:avLst/>
          </a:prstGeom>
          <a:noFill/>
        </p:spPr>
        <p:txBody>
          <a:bodyPr wrap="square"/>
          <a:lstStyle/>
          <a:p>
            <a:pPr algn="l"/>
            <a:r>
              <a:rPr sz="1600" b="0">
                <a:solidFill>
                  <a:srgbClr val="64748B"/>
                </a:solidFill>
                <a:latin typeface="Calibri"/>
              </a:rPr>
              <a:t>Or use the practice bank already loaded.</a:t>
            </a:r>
          </a:p>
        </p:txBody>
      </p:sp>
      <p:sp>
        <p:nvSpPr>
          <p:cNvPr id="8" name="TextBox 7"/>
          <p:cNvSpPr txBox="1"/>
          <p:nvPr/>
        </p:nvSpPr>
        <p:spPr>
          <a:xfrm>
            <a:off x="6355080" y="1645920"/>
            <a:ext cx="502920" cy="457200"/>
          </a:xfrm>
          <a:prstGeom prst="rect">
            <a:avLst/>
          </a:prstGeom>
          <a:noFill/>
        </p:spPr>
        <p:txBody>
          <a:bodyPr wrap="square"/>
          <a:lstStyle/>
          <a:p>
            <a:pPr algn="l"/>
            <a:r>
              <a:rPr sz="2200" b="1">
                <a:solidFill>
                  <a:srgbClr val="059669"/>
                </a:solidFill>
                <a:latin typeface="Calibri"/>
              </a:rPr>
              <a:t>2</a:t>
            </a:r>
          </a:p>
        </p:txBody>
      </p:sp>
      <p:sp>
        <p:nvSpPr>
          <p:cNvPr id="9" name="TextBox 8"/>
          <p:cNvSpPr txBox="1"/>
          <p:nvPr/>
        </p:nvSpPr>
        <p:spPr>
          <a:xfrm>
            <a:off x="6903720" y="1645920"/>
            <a:ext cx="4754880" cy="365760"/>
          </a:xfrm>
          <a:prstGeom prst="rect">
            <a:avLst/>
          </a:prstGeom>
          <a:noFill/>
        </p:spPr>
        <p:txBody>
          <a:bodyPr wrap="square"/>
          <a:lstStyle/>
          <a:p>
            <a:pPr algn="l"/>
            <a:r>
              <a:rPr sz="2000" b="1">
                <a:solidFill>
                  <a:srgbClr val="0F172A"/>
                </a:solidFill>
                <a:latin typeface="Calibri"/>
              </a:rPr>
              <a:t>Read your list</a:t>
            </a:r>
          </a:p>
        </p:txBody>
      </p:sp>
      <p:sp>
        <p:nvSpPr>
          <p:cNvPr id="10" name="TextBox 9"/>
          <p:cNvSpPr txBox="1"/>
          <p:nvPr/>
        </p:nvSpPr>
        <p:spPr>
          <a:xfrm>
            <a:off x="6903720" y="1993392"/>
            <a:ext cx="4754880" cy="502920"/>
          </a:xfrm>
          <a:prstGeom prst="rect">
            <a:avLst/>
          </a:prstGeom>
          <a:noFill/>
        </p:spPr>
        <p:txBody>
          <a:bodyPr wrap="square"/>
          <a:lstStyle/>
          <a:p>
            <a:pPr algn="l"/>
            <a:r>
              <a:rPr sz="1600" b="0">
                <a:solidFill>
                  <a:srgbClr val="64748B"/>
                </a:solidFill>
                <a:latin typeface="Calibri"/>
              </a:rPr>
              <a:t>Each purchase has a group and a confidence score.</a:t>
            </a:r>
          </a:p>
        </p:txBody>
      </p:sp>
      <p:sp>
        <p:nvSpPr>
          <p:cNvPr id="11" name="TextBox 10"/>
          <p:cNvSpPr txBox="1"/>
          <p:nvPr/>
        </p:nvSpPr>
        <p:spPr>
          <a:xfrm>
            <a:off x="640080" y="2788920"/>
            <a:ext cx="502920" cy="457200"/>
          </a:xfrm>
          <a:prstGeom prst="rect">
            <a:avLst/>
          </a:prstGeom>
          <a:noFill/>
        </p:spPr>
        <p:txBody>
          <a:bodyPr wrap="square"/>
          <a:lstStyle/>
          <a:p>
            <a:pPr algn="l"/>
            <a:r>
              <a:rPr sz="2200" b="1">
                <a:solidFill>
                  <a:srgbClr val="059669"/>
                </a:solidFill>
                <a:latin typeface="Calibri"/>
              </a:rPr>
              <a:t>3</a:t>
            </a:r>
          </a:p>
        </p:txBody>
      </p:sp>
      <p:sp>
        <p:nvSpPr>
          <p:cNvPr id="12" name="TextBox 11"/>
          <p:cNvSpPr txBox="1"/>
          <p:nvPr/>
        </p:nvSpPr>
        <p:spPr>
          <a:xfrm>
            <a:off x="1188720" y="2788920"/>
            <a:ext cx="4754880" cy="365760"/>
          </a:xfrm>
          <a:prstGeom prst="rect">
            <a:avLst/>
          </a:prstGeom>
          <a:noFill/>
        </p:spPr>
        <p:txBody>
          <a:bodyPr wrap="square"/>
          <a:lstStyle/>
          <a:p>
            <a:pPr algn="l"/>
            <a:r>
              <a:rPr sz="2000" b="1">
                <a:solidFill>
                  <a:srgbClr val="0F172A"/>
                </a:solidFill>
                <a:latin typeface="Calibri"/>
              </a:rPr>
              <a:t>Ask a question</a:t>
            </a:r>
          </a:p>
        </p:txBody>
      </p:sp>
      <p:sp>
        <p:nvSpPr>
          <p:cNvPr id="13" name="TextBox 12"/>
          <p:cNvSpPr txBox="1"/>
          <p:nvPr/>
        </p:nvSpPr>
        <p:spPr>
          <a:xfrm>
            <a:off x="1188720" y="3136392"/>
            <a:ext cx="4754880" cy="502920"/>
          </a:xfrm>
          <a:prstGeom prst="rect">
            <a:avLst/>
          </a:prstGeom>
          <a:noFill/>
        </p:spPr>
        <p:txBody>
          <a:bodyPr wrap="square"/>
          <a:lstStyle/>
          <a:p>
            <a:pPr algn="l"/>
            <a:r>
              <a:rPr sz="1600" b="0">
                <a:solidFill>
                  <a:srgbClr val="64748B"/>
                </a:solidFill>
                <a:latin typeface="Calibri"/>
              </a:rPr>
              <a:t>For example, “What are my loan payments?”</a:t>
            </a:r>
          </a:p>
        </p:txBody>
      </p:sp>
      <p:sp>
        <p:nvSpPr>
          <p:cNvPr id="14" name="TextBox 13"/>
          <p:cNvSpPr txBox="1"/>
          <p:nvPr/>
        </p:nvSpPr>
        <p:spPr>
          <a:xfrm>
            <a:off x="6355080" y="2788920"/>
            <a:ext cx="502920" cy="457200"/>
          </a:xfrm>
          <a:prstGeom prst="rect">
            <a:avLst/>
          </a:prstGeom>
          <a:noFill/>
        </p:spPr>
        <p:txBody>
          <a:bodyPr wrap="square"/>
          <a:lstStyle/>
          <a:p>
            <a:pPr algn="l"/>
            <a:r>
              <a:rPr sz="2200" b="1">
                <a:solidFill>
                  <a:srgbClr val="059669"/>
                </a:solidFill>
                <a:latin typeface="Calibri"/>
              </a:rPr>
              <a:t>4</a:t>
            </a:r>
          </a:p>
        </p:txBody>
      </p:sp>
      <p:sp>
        <p:nvSpPr>
          <p:cNvPr id="15" name="TextBox 14"/>
          <p:cNvSpPr txBox="1"/>
          <p:nvPr/>
        </p:nvSpPr>
        <p:spPr>
          <a:xfrm>
            <a:off x="6903720" y="2788920"/>
            <a:ext cx="4754880" cy="365760"/>
          </a:xfrm>
          <a:prstGeom prst="rect">
            <a:avLst/>
          </a:prstGeom>
          <a:noFill/>
        </p:spPr>
        <p:txBody>
          <a:bodyPr wrap="square"/>
          <a:lstStyle/>
          <a:p>
            <a:pPr algn="l"/>
            <a:r>
              <a:rPr sz="2000" b="1">
                <a:solidFill>
                  <a:srgbClr val="0F172A"/>
                </a:solidFill>
                <a:latin typeface="Calibri"/>
              </a:rPr>
              <a:t>Check odd charges</a:t>
            </a:r>
          </a:p>
        </p:txBody>
      </p:sp>
      <p:sp>
        <p:nvSpPr>
          <p:cNvPr id="16" name="TextBox 15"/>
          <p:cNvSpPr txBox="1"/>
          <p:nvPr/>
        </p:nvSpPr>
        <p:spPr>
          <a:xfrm>
            <a:off x="6903720" y="3136392"/>
            <a:ext cx="4754880" cy="502920"/>
          </a:xfrm>
          <a:prstGeom prst="rect">
            <a:avLst/>
          </a:prstGeom>
          <a:noFill/>
        </p:spPr>
        <p:txBody>
          <a:bodyPr wrap="square"/>
          <a:lstStyle/>
          <a:p>
            <a:pPr algn="l"/>
            <a:r>
              <a:rPr sz="1600" b="0">
                <a:solidFill>
                  <a:srgbClr val="64748B"/>
                </a:solidFill>
                <a:latin typeface="Calibri"/>
              </a:rPr>
              <a:t>Unusual amounts are marked so you can look twice.</a:t>
            </a:r>
          </a:p>
        </p:txBody>
      </p:sp>
      <p:sp>
        <p:nvSpPr>
          <p:cNvPr id="17" name="TextBox 16"/>
          <p:cNvSpPr txBox="1"/>
          <p:nvPr/>
        </p:nvSpPr>
        <p:spPr>
          <a:xfrm>
            <a:off x="640080" y="3931920"/>
            <a:ext cx="502920" cy="457200"/>
          </a:xfrm>
          <a:prstGeom prst="rect">
            <a:avLst/>
          </a:prstGeom>
          <a:noFill/>
        </p:spPr>
        <p:txBody>
          <a:bodyPr wrap="square"/>
          <a:lstStyle/>
          <a:p>
            <a:pPr algn="l"/>
            <a:r>
              <a:rPr sz="2200" b="1">
                <a:solidFill>
                  <a:srgbClr val="059669"/>
                </a:solidFill>
                <a:latin typeface="Calibri"/>
              </a:rPr>
              <a:t>5</a:t>
            </a:r>
          </a:p>
        </p:txBody>
      </p:sp>
      <p:sp>
        <p:nvSpPr>
          <p:cNvPr id="18" name="TextBox 17"/>
          <p:cNvSpPr txBox="1"/>
          <p:nvPr/>
        </p:nvSpPr>
        <p:spPr>
          <a:xfrm>
            <a:off x="1188720" y="3931920"/>
            <a:ext cx="4754880" cy="365760"/>
          </a:xfrm>
          <a:prstGeom prst="rect">
            <a:avLst/>
          </a:prstGeom>
          <a:noFill/>
        </p:spPr>
        <p:txBody>
          <a:bodyPr wrap="square"/>
          <a:lstStyle/>
          <a:p>
            <a:pPr algn="l"/>
            <a:r>
              <a:rPr sz="2000" b="1">
                <a:solidFill>
                  <a:srgbClr val="0F172A"/>
                </a:solidFill>
                <a:latin typeface="Calibri"/>
              </a:rPr>
              <a:t>See 30 days ahead</a:t>
            </a:r>
          </a:p>
        </p:txBody>
      </p:sp>
      <p:sp>
        <p:nvSpPr>
          <p:cNvPr id="19" name="TextBox 18"/>
          <p:cNvSpPr txBox="1"/>
          <p:nvPr/>
        </p:nvSpPr>
        <p:spPr>
          <a:xfrm>
            <a:off x="1188720" y="4279392"/>
            <a:ext cx="4754880" cy="502920"/>
          </a:xfrm>
          <a:prstGeom prst="rect">
            <a:avLst/>
          </a:prstGeom>
          <a:noFill/>
        </p:spPr>
        <p:txBody>
          <a:bodyPr wrap="square"/>
          <a:lstStyle/>
          <a:p>
            <a:pPr algn="l"/>
            <a:r>
              <a:rPr sz="1600" b="0">
                <a:solidFill>
                  <a:srgbClr val="64748B"/>
                </a:solidFill>
                <a:latin typeface="Calibri"/>
              </a:rPr>
              <a:t>Income, bills, and a range around the expected balance.</a:t>
            </a:r>
          </a:p>
        </p:txBody>
      </p:sp>
      <p:sp>
        <p:nvSpPr>
          <p:cNvPr id="20" name="TextBox 19"/>
          <p:cNvSpPr txBox="1"/>
          <p:nvPr/>
        </p:nvSpPr>
        <p:spPr>
          <a:xfrm>
            <a:off x="6355080" y="3931920"/>
            <a:ext cx="502920" cy="457200"/>
          </a:xfrm>
          <a:prstGeom prst="rect">
            <a:avLst/>
          </a:prstGeom>
          <a:noFill/>
        </p:spPr>
        <p:txBody>
          <a:bodyPr wrap="square"/>
          <a:lstStyle/>
          <a:p>
            <a:pPr algn="l"/>
            <a:r>
              <a:rPr sz="2200" b="1">
                <a:solidFill>
                  <a:srgbClr val="059669"/>
                </a:solidFill>
                <a:latin typeface="Calibri"/>
              </a:rPr>
              <a:t>6</a:t>
            </a:r>
          </a:p>
        </p:txBody>
      </p:sp>
      <p:sp>
        <p:nvSpPr>
          <p:cNvPr id="21" name="TextBox 20"/>
          <p:cNvSpPr txBox="1"/>
          <p:nvPr/>
        </p:nvSpPr>
        <p:spPr>
          <a:xfrm>
            <a:off x="6903720" y="3931920"/>
            <a:ext cx="4754880" cy="365760"/>
          </a:xfrm>
          <a:prstGeom prst="rect">
            <a:avLst/>
          </a:prstGeom>
          <a:noFill/>
        </p:spPr>
        <p:txBody>
          <a:bodyPr wrap="square"/>
          <a:lstStyle/>
          <a:p>
            <a:pPr algn="l"/>
            <a:r>
              <a:rPr sz="2000" b="1">
                <a:solidFill>
                  <a:srgbClr val="0F172A"/>
                </a:solidFill>
                <a:latin typeface="Calibri"/>
              </a:rPr>
              <a:t>Pick a savings idea</a:t>
            </a:r>
          </a:p>
        </p:txBody>
      </p:sp>
      <p:sp>
        <p:nvSpPr>
          <p:cNvPr id="22" name="TextBox 21"/>
          <p:cNvSpPr txBox="1"/>
          <p:nvPr/>
        </p:nvSpPr>
        <p:spPr>
          <a:xfrm>
            <a:off x="6903720" y="4279392"/>
            <a:ext cx="4754880" cy="502920"/>
          </a:xfrm>
          <a:prstGeom prst="rect">
            <a:avLst/>
          </a:prstGeom>
          <a:noFill/>
        </p:spPr>
        <p:txBody>
          <a:bodyPr wrap="square"/>
          <a:lstStyle/>
          <a:p>
            <a:pPr algn="l"/>
            <a:r>
              <a:rPr sz="1600" b="0">
                <a:solidFill>
                  <a:srgbClr val="64748B"/>
                </a:solidFill>
                <a:latin typeface="Calibri"/>
              </a:rPr>
              <a:t>Small cuts in optional spending, not in rent or loans.</a:t>
            </a:r>
          </a:p>
        </p:txBody>
      </p:sp>
      <p:sp>
        <p:nvSpPr>
          <p:cNvPr id="23" name="TextBox 22"/>
          <p:cNvSpPr txBox="1"/>
          <p:nvPr/>
        </p:nvSpPr>
        <p:spPr>
          <a:xfrm>
            <a:off x="640080" y="5074920"/>
            <a:ext cx="502920" cy="457200"/>
          </a:xfrm>
          <a:prstGeom prst="rect">
            <a:avLst/>
          </a:prstGeom>
          <a:noFill/>
        </p:spPr>
        <p:txBody>
          <a:bodyPr wrap="square"/>
          <a:lstStyle/>
          <a:p>
            <a:pPr algn="l"/>
            <a:r>
              <a:rPr sz="2200" b="1">
                <a:solidFill>
                  <a:srgbClr val="059669"/>
                </a:solidFill>
                <a:latin typeface="Calibri"/>
              </a:rPr>
              <a:t>7</a:t>
            </a:r>
          </a:p>
        </p:txBody>
      </p:sp>
      <p:sp>
        <p:nvSpPr>
          <p:cNvPr id="24" name="TextBox 23"/>
          <p:cNvSpPr txBox="1"/>
          <p:nvPr/>
        </p:nvSpPr>
        <p:spPr>
          <a:xfrm>
            <a:off x="1188720" y="5074920"/>
            <a:ext cx="4754880" cy="365760"/>
          </a:xfrm>
          <a:prstGeom prst="rect">
            <a:avLst/>
          </a:prstGeom>
          <a:noFill/>
        </p:spPr>
        <p:txBody>
          <a:bodyPr wrap="square"/>
          <a:lstStyle/>
          <a:p>
            <a:pPr algn="l"/>
            <a:r>
              <a:rPr sz="2000" b="1">
                <a:solidFill>
                  <a:srgbClr val="0F172A"/>
                </a:solidFill>
                <a:latin typeface="Calibri"/>
              </a:rPr>
              <a:t>Read the monthly note</a:t>
            </a:r>
          </a:p>
        </p:txBody>
      </p:sp>
      <p:sp>
        <p:nvSpPr>
          <p:cNvPr id="25" name="TextBox 24"/>
          <p:cNvSpPr txBox="1"/>
          <p:nvPr/>
        </p:nvSpPr>
        <p:spPr>
          <a:xfrm>
            <a:off x="1188720" y="5422392"/>
            <a:ext cx="4754880" cy="502920"/>
          </a:xfrm>
          <a:prstGeom prst="rect">
            <a:avLst/>
          </a:prstGeom>
          <a:noFill/>
        </p:spPr>
        <p:txBody>
          <a:bodyPr wrap="square"/>
          <a:lstStyle/>
          <a:p>
            <a:pPr algn="l"/>
            <a:r>
              <a:rPr sz="1600" b="0">
                <a:solidFill>
                  <a:srgbClr val="64748B"/>
                </a:solidFill>
                <a:latin typeface="Calibri"/>
              </a:rPr>
              <a:t>A score plus exactly three next steps.</a:t>
            </a:r>
          </a:p>
        </p:txBody>
      </p:sp>
      <p:sp>
        <p:nvSpPr>
          <p:cNvPr id="26" name="TextBox 25"/>
          <p:cNvSpPr txBox="1"/>
          <p:nvPr/>
        </p:nvSpPr>
        <p:spPr>
          <a:xfrm>
            <a:off x="6355080" y="5074920"/>
            <a:ext cx="502920" cy="457200"/>
          </a:xfrm>
          <a:prstGeom prst="rect">
            <a:avLst/>
          </a:prstGeom>
          <a:noFill/>
        </p:spPr>
        <p:txBody>
          <a:bodyPr wrap="square"/>
          <a:lstStyle/>
          <a:p>
            <a:pPr algn="l"/>
            <a:r>
              <a:rPr sz="2200" b="1">
                <a:solidFill>
                  <a:srgbClr val="059669"/>
                </a:solidFill>
                <a:latin typeface="Calibri"/>
              </a:rPr>
              <a:t>8</a:t>
            </a:r>
          </a:p>
        </p:txBody>
      </p:sp>
      <p:sp>
        <p:nvSpPr>
          <p:cNvPr id="27" name="TextBox 26"/>
          <p:cNvSpPr txBox="1"/>
          <p:nvPr/>
        </p:nvSpPr>
        <p:spPr>
          <a:xfrm>
            <a:off x="6903720" y="5074920"/>
            <a:ext cx="4754880" cy="365760"/>
          </a:xfrm>
          <a:prstGeom prst="rect">
            <a:avLst/>
          </a:prstGeom>
          <a:noFill/>
        </p:spPr>
        <p:txBody>
          <a:bodyPr wrap="square"/>
          <a:lstStyle/>
          <a:p>
            <a:pPr algn="l"/>
            <a:r>
              <a:rPr sz="2000" b="1">
                <a:solidFill>
                  <a:srgbClr val="0F172A"/>
                </a:solidFill>
                <a:latin typeface="Calibri"/>
              </a:rPr>
              <a:t>Stay on free, or go Pro</a:t>
            </a:r>
          </a:p>
        </p:txBody>
      </p:sp>
      <p:sp>
        <p:nvSpPr>
          <p:cNvPr id="28" name="TextBox 27"/>
          <p:cNvSpPr txBox="1"/>
          <p:nvPr/>
        </p:nvSpPr>
        <p:spPr>
          <a:xfrm>
            <a:off x="6903720" y="5422392"/>
            <a:ext cx="4754880" cy="502920"/>
          </a:xfrm>
          <a:prstGeom prst="rect">
            <a:avLst/>
          </a:prstGeom>
          <a:noFill/>
        </p:spPr>
        <p:txBody>
          <a:bodyPr wrap="square"/>
          <a:lstStyle/>
          <a:p>
            <a:pPr algn="l"/>
            <a:r>
              <a:rPr sz="1600" b="0">
                <a:solidFill>
                  <a:srgbClr val="64748B"/>
                </a:solidFill>
                <a:latin typeface="Calibri"/>
              </a:rPr>
              <a:t>Free includes 10 questions a day. Pro removes that limit.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YOUR LIST OF PURCHASES</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Each line is grouped, and the app admits when it is unsure.</a:t>
            </a:r>
          </a:p>
        </p:txBody>
      </p:sp>
      <p:sp>
        <p:nvSpPr>
          <p:cNvPr id="5" name="Rectangle 4"/>
          <p:cNvSpPr/>
          <p:nvPr/>
        </p:nvSpPr>
        <p:spPr>
          <a:xfrm>
            <a:off x="640080" y="182880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8"/>
            <a:ext cx="1783080" cy="457200"/>
          </a:xfrm>
          <a:prstGeom prst="rect">
            <a:avLst/>
          </a:prstGeom>
          <a:noFill/>
        </p:spPr>
        <p:txBody>
          <a:bodyPr wrap="square"/>
          <a:lstStyle/>
          <a:p>
            <a:pPr algn="ctr"/>
            <a:r>
              <a:rPr sz="1800" b="1">
                <a:solidFill>
                  <a:srgbClr val="0F172A"/>
                </a:solidFill>
                <a:latin typeface="Calibri"/>
              </a:rPr>
              <a:t>Food</a:t>
            </a:r>
          </a:p>
        </p:txBody>
      </p:sp>
      <p:sp>
        <p:nvSpPr>
          <p:cNvPr id="7" name="Rectangle 6"/>
          <p:cNvSpPr/>
          <p:nvPr/>
        </p:nvSpPr>
        <p:spPr>
          <a:xfrm>
            <a:off x="2880360" y="182880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029968"/>
            <a:ext cx="1783080" cy="457200"/>
          </a:xfrm>
          <a:prstGeom prst="rect">
            <a:avLst/>
          </a:prstGeom>
          <a:noFill/>
        </p:spPr>
        <p:txBody>
          <a:bodyPr wrap="square"/>
          <a:lstStyle/>
          <a:p>
            <a:pPr algn="ctr"/>
            <a:r>
              <a:rPr sz="1800" b="1">
                <a:solidFill>
                  <a:srgbClr val="0F172A"/>
                </a:solidFill>
                <a:latin typeface="Calibri"/>
              </a:rPr>
              <a:t>Groceries</a:t>
            </a:r>
          </a:p>
        </p:txBody>
      </p:sp>
      <p:sp>
        <p:nvSpPr>
          <p:cNvPr id="9" name="Rectangle 8"/>
          <p:cNvSpPr/>
          <p:nvPr/>
        </p:nvSpPr>
        <p:spPr>
          <a:xfrm>
            <a:off x="5120640" y="182880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57800" y="2029968"/>
            <a:ext cx="1783080" cy="457200"/>
          </a:xfrm>
          <a:prstGeom prst="rect">
            <a:avLst/>
          </a:prstGeom>
          <a:noFill/>
        </p:spPr>
        <p:txBody>
          <a:bodyPr wrap="square"/>
          <a:lstStyle/>
          <a:p>
            <a:pPr algn="ctr"/>
            <a:r>
              <a:rPr sz="1800" b="1">
                <a:solidFill>
                  <a:srgbClr val="0F172A"/>
                </a:solidFill>
                <a:latin typeface="Calibri"/>
              </a:rPr>
              <a:t>Travel</a:t>
            </a:r>
          </a:p>
        </p:txBody>
      </p:sp>
      <p:sp>
        <p:nvSpPr>
          <p:cNvPr id="11" name="Rectangle 10"/>
          <p:cNvSpPr/>
          <p:nvPr/>
        </p:nvSpPr>
        <p:spPr>
          <a:xfrm>
            <a:off x="7360920" y="182880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2029968"/>
            <a:ext cx="1783080" cy="457200"/>
          </a:xfrm>
          <a:prstGeom prst="rect">
            <a:avLst/>
          </a:prstGeom>
          <a:noFill/>
        </p:spPr>
        <p:txBody>
          <a:bodyPr wrap="square"/>
          <a:lstStyle/>
          <a:p>
            <a:pPr algn="ctr"/>
            <a:r>
              <a:rPr sz="1800" b="1">
                <a:solidFill>
                  <a:srgbClr val="0F172A"/>
                </a:solidFill>
                <a:latin typeface="Calibri"/>
              </a:rPr>
              <a:t>Shopping</a:t>
            </a:r>
          </a:p>
        </p:txBody>
      </p:sp>
      <p:sp>
        <p:nvSpPr>
          <p:cNvPr id="13" name="Rectangle 12"/>
          <p:cNvSpPr/>
          <p:nvPr/>
        </p:nvSpPr>
        <p:spPr>
          <a:xfrm>
            <a:off x="9601200" y="182880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38360" y="2029968"/>
            <a:ext cx="1783080" cy="457200"/>
          </a:xfrm>
          <a:prstGeom prst="rect">
            <a:avLst/>
          </a:prstGeom>
          <a:noFill/>
        </p:spPr>
        <p:txBody>
          <a:bodyPr wrap="square"/>
          <a:lstStyle/>
          <a:p>
            <a:pPr algn="ctr"/>
            <a:r>
              <a:rPr sz="1800" b="1">
                <a:solidFill>
                  <a:srgbClr val="0F172A"/>
                </a:solidFill>
                <a:latin typeface="Calibri"/>
              </a:rPr>
              <a:t>Entertainment</a:t>
            </a:r>
          </a:p>
        </p:txBody>
      </p:sp>
      <p:sp>
        <p:nvSpPr>
          <p:cNvPr id="15" name="Rectangle 14"/>
          <p:cNvSpPr/>
          <p:nvPr/>
        </p:nvSpPr>
        <p:spPr>
          <a:xfrm>
            <a:off x="640080" y="288036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81528"/>
            <a:ext cx="1783080" cy="457200"/>
          </a:xfrm>
          <a:prstGeom prst="rect">
            <a:avLst/>
          </a:prstGeom>
          <a:noFill/>
        </p:spPr>
        <p:txBody>
          <a:bodyPr wrap="square"/>
          <a:lstStyle/>
          <a:p>
            <a:pPr algn="ctr"/>
            <a:r>
              <a:rPr sz="1800" b="1">
                <a:solidFill>
                  <a:srgbClr val="0F172A"/>
                </a:solidFill>
                <a:latin typeface="Calibri"/>
              </a:rPr>
              <a:t>Utilities</a:t>
            </a:r>
          </a:p>
        </p:txBody>
      </p:sp>
      <p:sp>
        <p:nvSpPr>
          <p:cNvPr id="17" name="Rectangle 16"/>
          <p:cNvSpPr/>
          <p:nvPr/>
        </p:nvSpPr>
        <p:spPr>
          <a:xfrm>
            <a:off x="2880360" y="288036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3081528"/>
            <a:ext cx="1783080" cy="457200"/>
          </a:xfrm>
          <a:prstGeom prst="rect">
            <a:avLst/>
          </a:prstGeom>
          <a:noFill/>
        </p:spPr>
        <p:txBody>
          <a:bodyPr wrap="square"/>
          <a:lstStyle/>
          <a:p>
            <a:pPr algn="ctr"/>
            <a:r>
              <a:rPr sz="1800" b="1">
                <a:solidFill>
                  <a:srgbClr val="0F172A"/>
                </a:solidFill>
                <a:latin typeface="Calibri"/>
              </a:rPr>
              <a:t>Loan payments</a:t>
            </a:r>
          </a:p>
        </p:txBody>
      </p:sp>
      <p:sp>
        <p:nvSpPr>
          <p:cNvPr id="19" name="Rectangle 18"/>
          <p:cNvSpPr/>
          <p:nvPr/>
        </p:nvSpPr>
        <p:spPr>
          <a:xfrm>
            <a:off x="5120640" y="288036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3081528"/>
            <a:ext cx="1783080" cy="457200"/>
          </a:xfrm>
          <a:prstGeom prst="rect">
            <a:avLst/>
          </a:prstGeom>
          <a:noFill/>
        </p:spPr>
        <p:txBody>
          <a:bodyPr wrap="square"/>
          <a:lstStyle/>
          <a:p>
            <a:pPr algn="ctr"/>
            <a:r>
              <a:rPr sz="1800" b="1">
                <a:solidFill>
                  <a:srgbClr val="0F172A"/>
                </a:solidFill>
                <a:latin typeface="Calibri"/>
              </a:rPr>
              <a:t>Income</a:t>
            </a:r>
          </a:p>
        </p:txBody>
      </p:sp>
      <p:sp>
        <p:nvSpPr>
          <p:cNvPr id="21" name="Rectangle 20"/>
          <p:cNvSpPr/>
          <p:nvPr/>
        </p:nvSpPr>
        <p:spPr>
          <a:xfrm>
            <a:off x="7360920" y="288036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3081528"/>
            <a:ext cx="1783080" cy="457200"/>
          </a:xfrm>
          <a:prstGeom prst="rect">
            <a:avLst/>
          </a:prstGeom>
          <a:noFill/>
        </p:spPr>
        <p:txBody>
          <a:bodyPr wrap="square"/>
          <a:lstStyle/>
          <a:p>
            <a:pPr algn="ctr"/>
            <a:r>
              <a:rPr sz="1800" b="1">
                <a:solidFill>
                  <a:srgbClr val="0F172A"/>
                </a:solidFill>
                <a:latin typeface="Calibri"/>
              </a:rPr>
              <a:t>Health</a:t>
            </a:r>
          </a:p>
        </p:txBody>
      </p:sp>
      <p:sp>
        <p:nvSpPr>
          <p:cNvPr id="23" name="Rectangle 22"/>
          <p:cNvSpPr/>
          <p:nvPr/>
        </p:nvSpPr>
        <p:spPr>
          <a:xfrm>
            <a:off x="9601200" y="2880360"/>
            <a:ext cx="2057400"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3081528"/>
            <a:ext cx="1783080" cy="457200"/>
          </a:xfrm>
          <a:prstGeom prst="rect">
            <a:avLst/>
          </a:prstGeom>
          <a:noFill/>
        </p:spPr>
        <p:txBody>
          <a:bodyPr wrap="square"/>
          <a:lstStyle/>
          <a:p>
            <a:pPr algn="ctr"/>
            <a:r>
              <a:rPr sz="1800" b="1">
                <a:solidFill>
                  <a:srgbClr val="0F172A"/>
                </a:solidFill>
                <a:latin typeface="Calibri"/>
              </a:rPr>
              <a:t>Other</a:t>
            </a:r>
          </a:p>
        </p:txBody>
      </p:sp>
      <p:sp>
        <p:nvSpPr>
          <p:cNvPr id="25" name="TextBox 24"/>
          <p:cNvSpPr txBox="1"/>
          <p:nvPr/>
        </p:nvSpPr>
        <p:spPr>
          <a:xfrm>
            <a:off x="640080" y="4206240"/>
            <a:ext cx="10972800" cy="1280160"/>
          </a:xfrm>
          <a:prstGeom prst="rect">
            <a:avLst/>
          </a:prstGeom>
          <a:noFill/>
        </p:spPr>
        <p:txBody>
          <a:bodyPr wrap="square"/>
          <a:lstStyle/>
          <a:p>
            <a:pPr algn="l"/>
            <a:r>
              <a:rPr sz="2200" b="0">
                <a:solidFill>
                  <a:srgbClr val="334155"/>
                </a:solidFill>
                <a:latin typeface="Calibri"/>
              </a:rPr>
              <a:t>Rent shows up as Other, on purpose. Housing is not one of the groups, so the app does not force it into a wrong box. A low score, under 60%, is highlighted in amber.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ASK IN NORMAL ENGLISH</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The answer has to come from your purchases.</a:t>
            </a:r>
          </a:p>
        </p:txBody>
      </p:sp>
      <p:sp>
        <p:nvSpPr>
          <p:cNvPr id="5" name="Rectangle 4"/>
          <p:cNvSpPr/>
          <p:nvPr/>
        </p:nvSpPr>
        <p:spPr>
          <a:xfrm>
            <a:off x="640080" y="1737360"/>
            <a:ext cx="530352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411480"/>
          </a:xfrm>
          <a:prstGeom prst="rect">
            <a:avLst/>
          </a:prstGeom>
          <a:noFill/>
        </p:spPr>
        <p:txBody>
          <a:bodyPr wrap="square"/>
          <a:lstStyle/>
          <a:p>
            <a:pPr algn="l"/>
            <a:r>
              <a:rPr sz="2000" b="1">
                <a:solidFill>
                  <a:srgbClr val="059669"/>
                </a:solidFill>
                <a:latin typeface="Calibri"/>
              </a:rPr>
              <a:t>A question that fits</a:t>
            </a:r>
          </a:p>
        </p:txBody>
      </p:sp>
      <p:sp>
        <p:nvSpPr>
          <p:cNvPr id="7" name="TextBox 6"/>
          <p:cNvSpPr txBox="1"/>
          <p:nvPr/>
        </p:nvSpPr>
        <p:spPr>
          <a:xfrm>
            <a:off x="914400" y="2560320"/>
            <a:ext cx="4754880" cy="640080"/>
          </a:xfrm>
          <a:prstGeom prst="rect">
            <a:avLst/>
          </a:prstGeom>
          <a:noFill/>
        </p:spPr>
        <p:txBody>
          <a:bodyPr wrap="square"/>
          <a:lstStyle/>
          <a:p>
            <a:pPr algn="l"/>
            <a:r>
              <a:rPr sz="2600" b="1">
                <a:solidFill>
                  <a:srgbClr val="0F172A"/>
                </a:solidFill>
                <a:latin typeface="Calibri"/>
              </a:rPr>
              <a:t>“List my loan payments.”</a:t>
            </a:r>
          </a:p>
        </p:txBody>
      </p:sp>
      <p:sp>
        <p:nvSpPr>
          <p:cNvPr id="8" name="TextBox 7"/>
          <p:cNvSpPr txBox="1"/>
          <p:nvPr/>
        </p:nvSpPr>
        <p:spPr>
          <a:xfrm>
            <a:off x="914400" y="3383280"/>
            <a:ext cx="4663440" cy="2011680"/>
          </a:xfrm>
          <a:prstGeom prst="rect">
            <a:avLst/>
          </a:prstGeom>
          <a:noFill/>
        </p:spPr>
        <p:txBody>
          <a:bodyPr wrap="square"/>
          <a:lstStyle/>
          <a:p>
            <a:pPr algn="l"/>
            <a:r>
              <a:rPr sz="1800" b="0">
                <a:solidFill>
                  <a:srgbClr val="334155"/>
                </a:solidFill>
                <a:latin typeface="Calibri"/>
              </a:rPr>
              <a:t>You get a short answer, plus the actual payments it used. The numbers are added up from those lines. The sentence does not invent a shop that is not in the list.</a:t>
            </a:r>
          </a:p>
        </p:txBody>
      </p:sp>
      <p:sp>
        <p:nvSpPr>
          <p:cNvPr id="9" name="Rectangle 8"/>
          <p:cNvSpPr/>
          <p:nvPr/>
        </p:nvSpPr>
        <p:spPr>
          <a:xfrm>
            <a:off x="6217920" y="1737360"/>
            <a:ext cx="530352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65960"/>
            <a:ext cx="4754880" cy="411480"/>
          </a:xfrm>
          <a:prstGeom prst="rect">
            <a:avLst/>
          </a:prstGeom>
          <a:noFill/>
        </p:spPr>
        <p:txBody>
          <a:bodyPr wrap="square"/>
          <a:lstStyle/>
          <a:p>
            <a:pPr algn="l"/>
            <a:r>
              <a:rPr sz="2000" b="1">
                <a:solidFill>
                  <a:srgbClr val="BE1230"/>
                </a:solidFill>
                <a:latin typeface="Calibri"/>
              </a:rPr>
              <a:t>A question that does not fit</a:t>
            </a:r>
          </a:p>
        </p:txBody>
      </p:sp>
      <p:sp>
        <p:nvSpPr>
          <p:cNvPr id="11" name="TextBox 10"/>
          <p:cNvSpPr txBox="1"/>
          <p:nvPr/>
        </p:nvSpPr>
        <p:spPr>
          <a:xfrm>
            <a:off x="6492240" y="2560320"/>
            <a:ext cx="4754880" cy="822960"/>
          </a:xfrm>
          <a:prstGeom prst="rect">
            <a:avLst/>
          </a:prstGeom>
          <a:noFill/>
        </p:spPr>
        <p:txBody>
          <a:bodyPr wrap="square"/>
          <a:lstStyle/>
          <a:p>
            <a:pPr algn="l"/>
            <a:r>
              <a:rPr sz="2600" b="1">
                <a:solidFill>
                  <a:srgbClr val="0F172A"/>
                </a:solidFill>
                <a:latin typeface="Calibri"/>
              </a:rPr>
              <a:t>“What is the capital of France?”</a:t>
            </a:r>
          </a:p>
        </p:txBody>
      </p:sp>
      <p:sp>
        <p:nvSpPr>
          <p:cNvPr id="12" name="TextBox 11"/>
          <p:cNvSpPr txBox="1"/>
          <p:nvPr/>
        </p:nvSpPr>
        <p:spPr>
          <a:xfrm>
            <a:off x="6492240" y="3611880"/>
            <a:ext cx="4663440" cy="1828800"/>
          </a:xfrm>
          <a:prstGeom prst="rect">
            <a:avLst/>
          </a:prstGeom>
          <a:noFill/>
        </p:spPr>
        <p:txBody>
          <a:bodyPr wrap="square"/>
          <a:lstStyle/>
          <a:p>
            <a:pPr algn="l"/>
            <a:r>
              <a:rPr sz="1800" b="0">
                <a:solidFill>
                  <a:srgbClr val="334155"/>
                </a:solidFill>
                <a:latin typeface="Calibri"/>
              </a:rPr>
              <a:t>It says it does not have enough of your data to answer. There is no source list. It will not fill the gap with general knowledge.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UNUSUAL CHARGES</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A warning when one purchase is far above the usual.</a:t>
            </a:r>
          </a:p>
        </p:txBody>
      </p:sp>
      <p:sp>
        <p:nvSpPr>
          <p:cNvPr id="5" name="TextBox 4"/>
          <p:cNvSpPr txBox="1"/>
          <p:nvPr/>
        </p:nvSpPr>
        <p:spPr>
          <a:xfrm>
            <a:off x="640080" y="1691640"/>
            <a:ext cx="10972800" cy="1097280"/>
          </a:xfrm>
          <a:prstGeom prst="rect">
            <a:avLst/>
          </a:prstGeom>
          <a:noFill/>
        </p:spPr>
        <p:txBody>
          <a:bodyPr wrap="square"/>
          <a:lstStyle/>
          <a:p>
            <a:pPr algn="l"/>
            <a:r>
              <a:rPr sz="2200" b="0">
                <a:solidFill>
                  <a:srgbClr val="334155"/>
                </a:solidFill>
                <a:latin typeface="Calibri"/>
              </a:rPr>
              <a:t>For each group, Spendsense looks at the typical amount and the usual spread. If one charge is more than two steps above that typical amount, it is marked.</a:t>
            </a:r>
          </a:p>
        </p:txBody>
      </p:sp>
      <p:sp>
        <p:nvSpPr>
          <p:cNvPr id="6" name="Rectangle 5"/>
          <p:cNvSpPr/>
          <p:nvPr/>
        </p:nvSpPr>
        <p:spPr>
          <a:xfrm>
            <a:off x="640080" y="3108960"/>
            <a:ext cx="352044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291840"/>
            <a:ext cx="3108960" cy="411480"/>
          </a:xfrm>
          <a:prstGeom prst="rect">
            <a:avLst/>
          </a:prstGeom>
          <a:noFill/>
        </p:spPr>
        <p:txBody>
          <a:bodyPr wrap="square"/>
          <a:lstStyle/>
          <a:p>
            <a:pPr algn="l"/>
            <a:r>
              <a:rPr sz="2000" b="1">
                <a:solidFill>
                  <a:srgbClr val="0F172A"/>
                </a:solidFill>
                <a:latin typeface="Calibri"/>
              </a:rPr>
              <a:t>Delta Air Lines</a:t>
            </a:r>
          </a:p>
        </p:txBody>
      </p:sp>
      <p:sp>
        <p:nvSpPr>
          <p:cNvPr id="8" name="TextBox 7"/>
          <p:cNvSpPr txBox="1"/>
          <p:nvPr/>
        </p:nvSpPr>
        <p:spPr>
          <a:xfrm>
            <a:off x="868680" y="3794760"/>
            <a:ext cx="3108960" cy="502920"/>
          </a:xfrm>
          <a:prstGeom prst="rect">
            <a:avLst/>
          </a:prstGeom>
          <a:noFill/>
        </p:spPr>
        <p:txBody>
          <a:bodyPr wrap="square"/>
          <a:lstStyle/>
          <a:p>
            <a:pPr algn="l"/>
            <a:r>
              <a:rPr sz="2800" b="1">
                <a:solidFill>
                  <a:srgbClr val="059669"/>
                </a:solidFill>
                <a:latin typeface="Calibri"/>
              </a:rPr>
              <a:t>₹2,480</a:t>
            </a:r>
          </a:p>
        </p:txBody>
      </p:sp>
      <p:sp>
        <p:nvSpPr>
          <p:cNvPr id="9" name="TextBox 8"/>
          <p:cNvSpPr txBox="1"/>
          <p:nvPr/>
        </p:nvSpPr>
        <p:spPr>
          <a:xfrm>
            <a:off x="868680" y="4434840"/>
            <a:ext cx="3063240" cy="822960"/>
          </a:xfrm>
          <a:prstGeom prst="rect">
            <a:avLst/>
          </a:prstGeom>
          <a:noFill/>
        </p:spPr>
        <p:txBody>
          <a:bodyPr wrap="square"/>
          <a:lstStyle/>
          <a:p>
            <a:pPr algn="l"/>
            <a:r>
              <a:rPr sz="1600" b="0">
                <a:solidFill>
                  <a:srgbClr val="334155"/>
                </a:solidFill>
                <a:latin typeface="Calibri"/>
              </a:rPr>
              <a:t>A travel bill far above the usual trip.</a:t>
            </a:r>
          </a:p>
        </p:txBody>
      </p:sp>
      <p:sp>
        <p:nvSpPr>
          <p:cNvPr id="10" name="Rectangle 9"/>
          <p:cNvSpPr/>
          <p:nvPr/>
        </p:nvSpPr>
        <p:spPr>
          <a:xfrm>
            <a:off x="4389120" y="3108960"/>
            <a:ext cx="352044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291840"/>
            <a:ext cx="3108960" cy="411480"/>
          </a:xfrm>
          <a:prstGeom prst="rect">
            <a:avLst/>
          </a:prstGeom>
          <a:noFill/>
        </p:spPr>
        <p:txBody>
          <a:bodyPr wrap="square"/>
          <a:lstStyle/>
          <a:p>
            <a:pPr algn="l"/>
            <a:r>
              <a:rPr sz="2000" b="1">
                <a:solidFill>
                  <a:srgbClr val="0F172A"/>
                </a:solidFill>
                <a:latin typeface="Calibri"/>
              </a:rPr>
              <a:t>Amazon</a:t>
            </a:r>
          </a:p>
        </p:txBody>
      </p:sp>
      <p:sp>
        <p:nvSpPr>
          <p:cNvPr id="12" name="TextBox 11"/>
          <p:cNvSpPr txBox="1"/>
          <p:nvPr/>
        </p:nvSpPr>
        <p:spPr>
          <a:xfrm>
            <a:off x="4617720" y="3794760"/>
            <a:ext cx="3108960" cy="502920"/>
          </a:xfrm>
          <a:prstGeom prst="rect">
            <a:avLst/>
          </a:prstGeom>
          <a:noFill/>
        </p:spPr>
        <p:txBody>
          <a:bodyPr wrap="square"/>
          <a:lstStyle/>
          <a:p>
            <a:pPr algn="l"/>
            <a:r>
              <a:rPr sz="2800" b="1">
                <a:solidFill>
                  <a:srgbClr val="059669"/>
                </a:solidFill>
                <a:latin typeface="Calibri"/>
              </a:rPr>
              <a:t>₹1,899</a:t>
            </a:r>
          </a:p>
        </p:txBody>
      </p:sp>
      <p:sp>
        <p:nvSpPr>
          <p:cNvPr id="13" name="TextBox 12"/>
          <p:cNvSpPr txBox="1"/>
          <p:nvPr/>
        </p:nvSpPr>
        <p:spPr>
          <a:xfrm>
            <a:off x="4617720" y="4434840"/>
            <a:ext cx="3063240" cy="822960"/>
          </a:xfrm>
          <a:prstGeom prst="rect">
            <a:avLst/>
          </a:prstGeom>
          <a:noFill/>
        </p:spPr>
        <p:txBody>
          <a:bodyPr wrap="square"/>
          <a:lstStyle/>
          <a:p>
            <a:pPr algn="l"/>
            <a:r>
              <a:rPr sz="1600" b="0">
                <a:solidFill>
                  <a:srgbClr val="334155"/>
                </a:solidFill>
                <a:latin typeface="Calibri"/>
              </a:rPr>
              <a:t>A shopping bill far above the usual order.</a:t>
            </a:r>
          </a:p>
        </p:txBody>
      </p:sp>
      <p:sp>
        <p:nvSpPr>
          <p:cNvPr id="14" name="Rectangle 13"/>
          <p:cNvSpPr/>
          <p:nvPr/>
        </p:nvSpPr>
        <p:spPr>
          <a:xfrm>
            <a:off x="8138159" y="3108960"/>
            <a:ext cx="352044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3291840"/>
            <a:ext cx="3108960" cy="411480"/>
          </a:xfrm>
          <a:prstGeom prst="rect">
            <a:avLst/>
          </a:prstGeom>
          <a:noFill/>
        </p:spPr>
        <p:txBody>
          <a:bodyPr wrap="square"/>
          <a:lstStyle/>
          <a:p>
            <a:pPr algn="l"/>
            <a:r>
              <a:rPr sz="2000" b="1">
                <a:solidFill>
                  <a:srgbClr val="0F172A"/>
                </a:solidFill>
                <a:latin typeface="Calibri"/>
              </a:rPr>
              <a:t>Chipotle</a:t>
            </a:r>
          </a:p>
        </p:txBody>
      </p:sp>
      <p:sp>
        <p:nvSpPr>
          <p:cNvPr id="16" name="TextBox 15"/>
          <p:cNvSpPr txBox="1"/>
          <p:nvPr/>
        </p:nvSpPr>
        <p:spPr>
          <a:xfrm>
            <a:off x="8366759" y="3794760"/>
            <a:ext cx="3108960" cy="502920"/>
          </a:xfrm>
          <a:prstGeom prst="rect">
            <a:avLst/>
          </a:prstGeom>
          <a:noFill/>
        </p:spPr>
        <p:txBody>
          <a:bodyPr wrap="square"/>
          <a:lstStyle/>
          <a:p>
            <a:pPr algn="l"/>
            <a:r>
              <a:rPr sz="2800" b="1">
                <a:solidFill>
                  <a:srgbClr val="059669"/>
                </a:solidFill>
                <a:latin typeface="Calibri"/>
              </a:rPr>
              <a:t>₹420</a:t>
            </a:r>
          </a:p>
        </p:txBody>
      </p:sp>
      <p:sp>
        <p:nvSpPr>
          <p:cNvPr id="17" name="TextBox 16"/>
          <p:cNvSpPr txBox="1"/>
          <p:nvPr/>
        </p:nvSpPr>
        <p:spPr>
          <a:xfrm>
            <a:off x="8366759" y="4434840"/>
            <a:ext cx="3063240" cy="822960"/>
          </a:xfrm>
          <a:prstGeom prst="rect">
            <a:avLst/>
          </a:prstGeom>
          <a:noFill/>
        </p:spPr>
        <p:txBody>
          <a:bodyPr wrap="square"/>
          <a:lstStyle/>
          <a:p>
            <a:pPr algn="l"/>
            <a:r>
              <a:rPr sz="1600" b="0">
                <a:solidFill>
                  <a:srgbClr val="334155"/>
                </a:solidFill>
                <a:latin typeface="Calibri"/>
              </a:rPr>
              <a:t>One meal far above the usual food bill.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THE NEXT 30 DAYS</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A picture of money in, money out, and a range around it.</a:t>
            </a:r>
          </a:p>
        </p:txBody>
      </p:sp>
      <p:sp>
        <p:nvSpPr>
          <p:cNvPr id="5" name="TextBox 4"/>
          <p:cNvSpPr txBox="1"/>
          <p:nvPr/>
        </p:nvSpPr>
        <p:spPr>
          <a:xfrm>
            <a:off x="777240" y="1737360"/>
            <a:ext cx="10607040" cy="4663440"/>
          </a:xfrm>
          <a:prstGeom prst="rect">
            <a:avLst/>
          </a:prstGeom>
          <a:noFill/>
        </p:spPr>
        <p:txBody>
          <a:bodyPr wrap="square">
            <a:spAutoFit/>
          </a:bodyPr>
          <a:lstStyle/>
          <a:p>
            <a:pPr>
              <a:spcAft>
                <a:spcPts val="1600"/>
              </a:spcAft>
            </a:pPr>
            <a:r>
              <a:rPr sz="2400" b="0">
                <a:solidFill>
                  <a:srgbClr val="334155"/>
                </a:solidFill>
                <a:latin typeface="Calibri"/>
              </a:rPr>
              <a:t>Salary, rent, and the loan payment are treated as things that come back on a schedule.</a:t>
            </a:r>
          </a:p>
          <a:p>
            <a:pPr>
              <a:spcAft>
                <a:spcPts val="1600"/>
              </a:spcAft>
            </a:pPr>
            <a:r>
              <a:rPr sz="2400" b="0">
                <a:solidFill>
                  <a:srgbClr val="334155"/>
                </a:solidFill>
                <a:latin typeface="Calibri"/>
              </a:rPr>
              <a:t>The shaded band is wider on day 30 than on day 1, because the further out you look, the less sure the picture is.</a:t>
            </a:r>
          </a:p>
          <a:p>
            <a:pPr>
              <a:spcAft>
                <a:spcPts val="1600"/>
              </a:spcAft>
            </a:pPr>
            <a:r>
              <a:rPr sz="2400" b="0">
                <a:solidFill>
                  <a:srgbClr val="334155"/>
                </a:solidFill>
                <a:latin typeface="Calibri"/>
              </a:rPr>
              <a:t>The written paragraph only repeats those numbers. It does not invent a new balance.</a:t>
            </a:r>
          </a:p>
          <a:p>
            <a:pPr>
              <a:spcAft>
                <a:spcPts val="1600"/>
              </a:spcAft>
            </a:pPr>
            <a:r>
              <a:rPr sz="2400" b="0">
                <a:solidFill>
                  <a:srgbClr val="334155"/>
                </a:solidFill>
                <a:latin typeface="Calibri"/>
              </a:rPr>
              <a:t>The starting balance in the demo is an assumed ₹3,500, not a live bank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IDEAS AND A MONTHLY CHECKUP</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Small cuts, plus one score and three actions.</a:t>
            </a:r>
          </a:p>
        </p:txBody>
      </p:sp>
      <p:sp>
        <p:nvSpPr>
          <p:cNvPr id="5" name="Rectangle 4"/>
          <p:cNvSpPr/>
          <p:nvPr/>
        </p:nvSpPr>
        <p:spPr>
          <a:xfrm>
            <a:off x="640080" y="1737360"/>
            <a:ext cx="5303520" cy="4206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411480"/>
          </a:xfrm>
          <a:prstGeom prst="rect">
            <a:avLst/>
          </a:prstGeom>
          <a:noFill/>
        </p:spPr>
        <p:txBody>
          <a:bodyPr wrap="square"/>
          <a:lstStyle/>
          <a:p>
            <a:pPr algn="l"/>
            <a:r>
              <a:rPr sz="2400" b="1">
                <a:solidFill>
                  <a:srgbClr val="0F172A"/>
                </a:solidFill>
                <a:latin typeface="Calibri"/>
              </a:rPr>
              <a:t>Savings ideas</a:t>
            </a:r>
          </a:p>
        </p:txBody>
      </p:sp>
      <p:sp>
        <p:nvSpPr>
          <p:cNvPr id="7" name="TextBox 6"/>
          <p:cNvSpPr txBox="1"/>
          <p:nvPr/>
        </p:nvSpPr>
        <p:spPr>
          <a:xfrm>
            <a:off x="914400" y="2560320"/>
            <a:ext cx="4663440" cy="3017520"/>
          </a:xfrm>
          <a:prstGeom prst="rect">
            <a:avLst/>
          </a:prstGeom>
          <a:noFill/>
        </p:spPr>
        <p:txBody>
          <a:bodyPr wrap="square"/>
          <a:lstStyle/>
          <a:p>
            <a:pPr algn="l"/>
            <a:r>
              <a:rPr sz="1800" b="0">
                <a:solidFill>
                  <a:srgbClr val="334155"/>
                </a:solidFill>
                <a:latin typeface="Calibri"/>
              </a:rPr>
              <a:t>Looks only at food, entertainment, and shopping, and only when there are enough of those purchases to learn from.
The suggestion is a 15% trim of what you already spend, not a new lifestyle. Rent, loan payments, and utility bills are left alone.
You can accept an idea or dismiss it.</a:t>
            </a:r>
          </a:p>
        </p:txBody>
      </p:sp>
      <p:sp>
        <p:nvSpPr>
          <p:cNvPr id="8" name="Rectangle 7"/>
          <p:cNvSpPr/>
          <p:nvPr/>
        </p:nvSpPr>
        <p:spPr>
          <a:xfrm>
            <a:off x="6217920" y="1737360"/>
            <a:ext cx="5303520" cy="4206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754880" cy="411480"/>
          </a:xfrm>
          <a:prstGeom prst="rect">
            <a:avLst/>
          </a:prstGeom>
          <a:noFill/>
        </p:spPr>
        <p:txBody>
          <a:bodyPr wrap="square"/>
          <a:lstStyle/>
          <a:p>
            <a:pPr algn="l"/>
            <a:r>
              <a:rPr sz="2400" b="1">
                <a:solidFill>
                  <a:srgbClr val="0F172A"/>
                </a:solidFill>
                <a:latin typeface="Calibri"/>
              </a:rPr>
              <a:t>Monthly checkup</a:t>
            </a:r>
          </a:p>
        </p:txBody>
      </p:sp>
      <p:sp>
        <p:nvSpPr>
          <p:cNvPr id="10" name="TextBox 9"/>
          <p:cNvSpPr txBox="1"/>
          <p:nvPr/>
        </p:nvSpPr>
        <p:spPr>
          <a:xfrm>
            <a:off x="6492240" y="2560320"/>
            <a:ext cx="4663440" cy="3017520"/>
          </a:xfrm>
          <a:prstGeom prst="rect">
            <a:avLst/>
          </a:prstGeom>
          <a:noFill/>
        </p:spPr>
        <p:txBody>
          <a:bodyPr wrap="square"/>
          <a:lstStyle/>
          <a:p>
            <a:pPr algn="l"/>
            <a:r>
              <a:rPr sz="1800" b="0">
                <a:solidFill>
                  <a:srgbClr val="334155"/>
                </a:solidFill>
                <a:latin typeface="Calibri"/>
              </a:rPr>
              <a:t>A score from 0 to 100, using how much you saved, how spend compares with income, how many odd charges there were, and whether spend went up or down.
Always exactly three next steps. The paragraph restates the figures. It does not make up new ones.
September is the last full month in this 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FREE, PRO, AND THE LIMITS</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What this app will and will not do.</a:t>
            </a:r>
          </a:p>
        </p:txBody>
      </p:sp>
      <p:sp>
        <p:nvSpPr>
          <p:cNvPr id="5" name="Rectangle 4"/>
          <p:cNvSpPr/>
          <p:nvPr/>
        </p:nvSpPr>
        <p:spPr>
          <a:xfrm>
            <a:off x="640080" y="1691640"/>
            <a:ext cx="53035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4572000" cy="365760"/>
          </a:xfrm>
          <a:prstGeom prst="rect">
            <a:avLst/>
          </a:prstGeom>
          <a:noFill/>
        </p:spPr>
        <p:txBody>
          <a:bodyPr wrap="square"/>
          <a:lstStyle/>
          <a:p>
            <a:pPr algn="l"/>
            <a:r>
              <a:rPr sz="2200" b="1">
                <a:solidFill>
                  <a:srgbClr val="0F172A"/>
                </a:solidFill>
                <a:latin typeface="Calibri"/>
              </a:rPr>
              <a:t>Free</a:t>
            </a:r>
          </a:p>
        </p:txBody>
      </p:sp>
      <p:sp>
        <p:nvSpPr>
          <p:cNvPr id="7" name="TextBox 6"/>
          <p:cNvSpPr txBox="1"/>
          <p:nvPr/>
        </p:nvSpPr>
        <p:spPr>
          <a:xfrm>
            <a:off x="914400" y="2377440"/>
            <a:ext cx="4663440" cy="1005840"/>
          </a:xfrm>
          <a:prstGeom prst="rect">
            <a:avLst/>
          </a:prstGeom>
          <a:noFill/>
        </p:spPr>
        <p:txBody>
          <a:bodyPr wrap="square"/>
          <a:lstStyle/>
          <a:p>
            <a:pPr algn="l"/>
            <a:r>
              <a:rPr sz="1800" b="0">
                <a:solidFill>
                  <a:srgbClr val="334155"/>
                </a:solidFill>
                <a:latin typeface="Calibri"/>
              </a:rPr>
              <a:t>Ten questions a day. A question that the app refuses still counts.</a:t>
            </a:r>
          </a:p>
        </p:txBody>
      </p:sp>
      <p:sp>
        <p:nvSpPr>
          <p:cNvPr id="8" name="Rectangle 7"/>
          <p:cNvSpPr/>
          <p:nvPr/>
        </p:nvSpPr>
        <p:spPr>
          <a:xfrm>
            <a:off x="6217920" y="1691640"/>
            <a:ext cx="53035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572000" cy="365760"/>
          </a:xfrm>
          <a:prstGeom prst="rect">
            <a:avLst/>
          </a:prstGeom>
          <a:noFill/>
        </p:spPr>
        <p:txBody>
          <a:bodyPr wrap="square"/>
          <a:lstStyle/>
          <a:p>
            <a:pPr algn="l"/>
            <a:r>
              <a:rPr sz="2200" b="1">
                <a:solidFill>
                  <a:srgbClr val="0F172A"/>
                </a:solidFill>
                <a:latin typeface="Calibri"/>
              </a:rPr>
              <a:t>Pro</a:t>
            </a:r>
          </a:p>
        </p:txBody>
      </p:sp>
      <p:sp>
        <p:nvSpPr>
          <p:cNvPr id="10" name="TextBox 9"/>
          <p:cNvSpPr txBox="1"/>
          <p:nvPr/>
        </p:nvSpPr>
        <p:spPr>
          <a:xfrm>
            <a:off x="6492240" y="2377440"/>
            <a:ext cx="4663440" cy="1005840"/>
          </a:xfrm>
          <a:prstGeom prst="rect">
            <a:avLst/>
          </a:prstGeom>
          <a:noFill/>
        </p:spPr>
        <p:txBody>
          <a:bodyPr wrap="square"/>
          <a:lstStyle/>
          <a:p>
            <a:pPr algn="l"/>
            <a:r>
              <a:rPr sz="1800" b="0">
                <a:solidFill>
                  <a:srgbClr val="334155"/>
                </a:solidFill>
                <a:latin typeface="Calibri"/>
              </a:rPr>
              <a:t>No daily question limit. In the practice demo, Upgrade writes this locally. No card is charged.</a:t>
            </a:r>
          </a:p>
        </p:txBody>
      </p:sp>
      <p:sp>
        <p:nvSpPr>
          <p:cNvPr id="11" name="TextBox 10"/>
          <p:cNvSpPr txBox="1"/>
          <p:nvPr/>
        </p:nvSpPr>
        <p:spPr>
          <a:xfrm>
            <a:off x="640080" y="4114800"/>
            <a:ext cx="10972800" cy="1280160"/>
          </a:xfrm>
          <a:prstGeom prst="rect">
            <a:avLst/>
          </a:prstGeom>
          <a:noFill/>
        </p:spPr>
        <p:txBody>
          <a:bodyPr wrap="square"/>
          <a:lstStyle/>
          <a:p>
            <a:pPr algn="l"/>
            <a:r>
              <a:rPr sz="2200" b="0">
                <a:solidFill>
                  <a:srgbClr val="334155"/>
                </a:solidFill>
                <a:latin typeface="Calibri"/>
              </a:rPr>
              <a:t>It does not move money, pay a bill, or give investment advice. The 11th free question simply asks you to upgrade.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292608"/>
          </a:xfrm>
          <a:prstGeom prst="rect">
            <a:avLst/>
          </a:prstGeom>
          <a:noFill/>
        </p:spPr>
        <p:txBody>
          <a:bodyPr wrap="square"/>
          <a:lstStyle/>
          <a:p>
            <a:pPr algn="l"/>
            <a:r>
              <a:rPr sz="1400" b="1">
                <a:solidFill>
                  <a:srgbClr val="059669"/>
                </a:solidFill>
                <a:latin typeface="Calibri"/>
              </a:rPr>
              <a:t>THE PRACTICE DEMO</a:t>
            </a:r>
          </a:p>
        </p:txBody>
      </p:sp>
      <p:sp>
        <p:nvSpPr>
          <p:cNvPr id="4" name="TextBox 3"/>
          <p:cNvSpPr txBox="1"/>
          <p:nvPr/>
        </p:nvSpPr>
        <p:spPr>
          <a:xfrm>
            <a:off x="640080" y="621792"/>
            <a:ext cx="10972800" cy="1051560"/>
          </a:xfrm>
          <a:prstGeom prst="rect">
            <a:avLst/>
          </a:prstGeom>
          <a:noFill/>
        </p:spPr>
        <p:txBody>
          <a:bodyPr wrap="square"/>
          <a:lstStyle/>
          <a:p>
            <a:pPr algn="l"/>
            <a:r>
              <a:rPr sz="3400" b="1">
                <a:solidFill>
                  <a:srgbClr val="0F172A"/>
                </a:solidFill>
                <a:latin typeface="Calibri"/>
              </a:rPr>
              <a:t>Sample data, so you can click every screen safely.</a:t>
            </a:r>
          </a:p>
        </p:txBody>
      </p:sp>
      <p:sp>
        <p:nvSpPr>
          <p:cNvPr id="5" name="TextBox 4"/>
          <p:cNvSpPr txBox="1"/>
          <p:nvPr/>
        </p:nvSpPr>
        <p:spPr>
          <a:xfrm>
            <a:off x="777240" y="1691640"/>
            <a:ext cx="10607040" cy="4663440"/>
          </a:xfrm>
          <a:prstGeom prst="rect">
            <a:avLst/>
          </a:prstGeom>
          <a:noFill/>
        </p:spPr>
        <p:txBody>
          <a:bodyPr wrap="square">
            <a:spAutoFit/>
          </a:bodyPr>
          <a:lstStyle/>
          <a:p>
            <a:pPr>
              <a:spcAft>
                <a:spcPts val="1600"/>
              </a:spcAft>
            </a:pPr>
            <a:r>
              <a:rPr sz="2400" b="0">
                <a:solidFill>
                  <a:srgbClr val="334155"/>
                </a:solidFill>
                <a:latin typeface="Calibri"/>
              </a:rPr>
              <a:t>About 90 days of made-up purchases, shown in rupees.</a:t>
            </a:r>
          </a:p>
          <a:p>
            <a:pPr>
              <a:spcAft>
                <a:spcPts val="1600"/>
              </a:spcAft>
            </a:pPr>
            <a:r>
              <a:rPr sz="2400" b="0">
                <a:solidFill>
                  <a:srgbClr val="334155"/>
                </a:solidFill>
                <a:latin typeface="Calibri"/>
              </a:rPr>
              <a:t>The bank is already connected: First Platypus Bank.</a:t>
            </a:r>
          </a:p>
          <a:p>
            <a:pPr>
              <a:spcAft>
                <a:spcPts val="1600"/>
              </a:spcAft>
            </a:pPr>
            <a:r>
              <a:rPr sz="2400" b="0">
                <a:solidFill>
                  <a:srgbClr val="334155"/>
                </a:solidFill>
                <a:latin typeface="Calibri"/>
              </a:rPr>
              <a:t>Sign in with demo@spendsense.dev and the password demo-pass-123.</a:t>
            </a:r>
          </a:p>
          <a:p>
            <a:pPr>
              <a:spcAft>
                <a:spcPts val="1600"/>
              </a:spcAft>
            </a:pPr>
            <a:r>
              <a:rPr sz="2400" b="0">
                <a:solidFill>
                  <a:srgbClr val="334155"/>
                </a:solidFill>
                <a:latin typeface="Calibri"/>
              </a:rPr>
              <a:t>Open the app once before you present. The database sleeps when nobody is using it, and the first click after that is slow.</a:t>
            </a:r>
          </a:p>
          <a:p>
            <a:pPr>
              <a:spcAft>
                <a:spcPts val="1600"/>
              </a:spcAft>
            </a:pPr>
            <a:r>
              <a:rPr sz="2400" b="0">
                <a:solidFill>
                  <a:srgbClr val="334155"/>
                </a:solidFill>
                <a:latin typeface="Calibri"/>
              </a:rPr>
              <a:t>Leave Connect bank alone during the talk. The data is already loaded.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65960"/>
            <a:ext cx="10058400" cy="320040"/>
          </a:xfrm>
          <a:prstGeom prst="rect">
            <a:avLst/>
          </a:prstGeom>
          <a:noFill/>
        </p:spPr>
        <p:txBody>
          <a:bodyPr wrap="square"/>
          <a:lstStyle/>
          <a:p>
            <a:pPr algn="l"/>
            <a:r>
              <a:rPr sz="1600" b="1">
                <a:solidFill>
                  <a:srgbClr val="059669"/>
                </a:solidFill>
                <a:latin typeface="Calibri"/>
              </a:rPr>
              <a:t>IN ONE SENTENCE</a:t>
            </a:r>
          </a:p>
        </p:txBody>
      </p:sp>
      <p:sp>
        <p:nvSpPr>
          <p:cNvPr id="4" name="TextBox 3"/>
          <p:cNvSpPr txBox="1"/>
          <p:nvPr/>
        </p:nvSpPr>
        <p:spPr>
          <a:xfrm>
            <a:off x="777240" y="2468880"/>
            <a:ext cx="10058400" cy="1645920"/>
          </a:xfrm>
          <a:prstGeom prst="rect">
            <a:avLst/>
          </a:prstGeom>
          <a:noFill/>
        </p:spPr>
        <p:txBody>
          <a:bodyPr wrap="square"/>
          <a:lstStyle/>
          <a:p>
            <a:pPr algn="l"/>
            <a:r>
              <a:rPr sz="3600" b="1">
                <a:solidFill>
                  <a:srgbClr val="FFFFFF"/>
                </a:solidFill>
                <a:latin typeface="Calibri"/>
              </a:rPr>
              <a:t>Spendsense explains money you already spent, flags the surprises, and sketches the next 30 days.</a:t>
            </a:r>
          </a:p>
        </p:txBody>
      </p:sp>
      <p:sp>
        <p:nvSpPr>
          <p:cNvPr id="5" name="TextBox 4"/>
          <p:cNvSpPr txBox="1"/>
          <p:nvPr/>
        </p:nvSpPr>
        <p:spPr>
          <a:xfrm>
            <a:off x="777240" y="4937760"/>
            <a:ext cx="5486400" cy="457200"/>
          </a:xfrm>
          <a:prstGeom prst="rect">
            <a:avLst/>
          </a:prstGeom>
          <a:noFill/>
        </p:spPr>
        <p:txBody>
          <a:bodyPr wrap="square"/>
          <a:lstStyle/>
          <a:p>
            <a:pPr algn="l"/>
            <a:r>
              <a:rPr sz="2200" b="0">
                <a:solidFill>
                  <a:srgbClr val="94A3B8"/>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Spendsense</dc:title>
  <dc:subject>A plain-English guide to what Spendsense does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